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7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14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29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669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HP/.gemini/antigravity/brain/66a45b39-94cb-4232-850e-52a80dadd202/arc_agent_hero_17771396363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 AGENT ECONOMY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E5CC"/>
                </a:solidFill>
              </a:rPr>
              <a:t>The Sovereign Standard for </a:t>
            </a:r>
            <a:r>
              <a:rPr lang="en-US" sz="2400" dirty="0" err="1" smtClean="0">
                <a:solidFill>
                  <a:srgbClr val="00E5CC"/>
                </a:solidFill>
              </a:rPr>
              <a:t>Agentic</a:t>
            </a:r>
            <a:r>
              <a:rPr lang="en-US" sz="2400" dirty="0" smtClean="0">
                <a:solidFill>
                  <a:srgbClr val="00E5CC"/>
                </a:solidFill>
              </a:rPr>
              <a:t> Commerce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4B4B"/>
                </a:solidFill>
              </a:rPr>
              <a:t>The Economic Margin Crisis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CCCC"/>
                </a:solidFill>
              </a:rPr>
              <a:t>On traditional L1/L2s, gas fees exceed agentic work value by 10,000x.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812463"/>
              </p:ext>
            </p:extLst>
          </p:nvPr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Task: BTC Analysis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Standard L1/L2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ARC </a:t>
                      </a:r>
                      <a:r>
                        <a:rPr lang="en-US" sz="2000" dirty="0" smtClean="0">
                          <a:solidFill>
                            <a:srgbClr val="FFFFFF"/>
                          </a:solidFill>
                        </a:rPr>
                        <a:t>Network</a:t>
                      </a:r>
                      <a:r>
                        <a:rPr lang="en-US" sz="2000" baseline="0" dirty="0" smtClean="0">
                          <a:solidFill>
                            <a:srgbClr val="FFFFFF"/>
                          </a:solidFill>
                        </a:rPr>
                        <a:t> 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Work Value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$0.001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$0.001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Gas Cost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$0.20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$0.0003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Profitability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CRASHED ❌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SUSTAINABLE ✅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CC"/>
                </a:solidFill>
              </a:rPr>
              <a:t>The Solution: HSM Nano-Payment Escrow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 smtClean="0">
                <a:solidFill>
                  <a:srgbClr val="FFFFFF"/>
                </a:solidFill>
              </a:rPr>
              <a:t>Hybrid </a:t>
            </a:r>
            <a:r>
              <a:rPr lang="en-US" sz="1800" b="1" dirty="0">
                <a:solidFill>
                  <a:srgbClr val="FFFFFF"/>
                </a:solidFill>
              </a:rPr>
              <a:t>Dual-Engine:</a:t>
            </a:r>
            <a:r>
              <a:rPr lang="en-US" sz="1800" dirty="0">
                <a:solidFill>
                  <a:srgbClr val="FFFFFF"/>
                </a:solidFill>
              </a:rPr>
              <a:t> Combining on-chain security with off-chain micro-payment velocity.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 smtClean="0">
                <a:solidFill>
                  <a:srgbClr val="FFFFFF"/>
                </a:solidFill>
              </a:rPr>
              <a:t>Circle </a:t>
            </a:r>
            <a:r>
              <a:rPr lang="en-US" sz="1800" b="1" dirty="0">
                <a:solidFill>
                  <a:srgbClr val="FFFFFF"/>
                </a:solidFill>
              </a:rPr>
              <a:t>HSM Vaults:</a:t>
            </a:r>
            <a:r>
              <a:rPr lang="en-US" sz="1800" dirty="0">
                <a:solidFill>
                  <a:srgbClr val="FFFFFF"/>
                </a:solidFill>
              </a:rPr>
              <a:t> Agent keys never leave the hardware. Managed by institutional-grade MPC.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 smtClean="0">
                <a:solidFill>
                  <a:srgbClr val="FFFFFF"/>
                </a:solidFill>
              </a:rPr>
              <a:t>Zero-Secret </a:t>
            </a:r>
            <a:r>
              <a:rPr lang="en-US" sz="1800" b="1" dirty="0">
                <a:solidFill>
                  <a:srgbClr val="FFFFFF"/>
                </a:solidFill>
              </a:rPr>
              <a:t>Authentication:</a:t>
            </a:r>
            <a:r>
              <a:rPr lang="en-US" sz="1800" dirty="0">
                <a:solidFill>
                  <a:srgbClr val="FFFFFF"/>
                </a:solidFill>
              </a:rPr>
              <a:t> Non-custodial air-gap between the Swarm Master and Agent Wallets.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CC"/>
                </a:solidFill>
              </a:rPr>
              <a:t>The Solution: HSM Nano-Payment Escrow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877" y="1223176"/>
            <a:ext cx="6693244" cy="36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02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C63FF"/>
                </a:solidFill>
              </a:rPr>
              <a:t>Architecture Overview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775361"/>
            <a:ext cx="3859481" cy="194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400" dirty="0">
                <a:solidFill>
                  <a:srgbClr val="CCCCCC"/>
                </a:solidFill>
                <a:latin typeface="Segoe WPC"/>
              </a:rPr>
              <a:t>Sovereign Hub: A high-velocity orchestrator managing a Zero-Gas state channel for </a:t>
            </a:r>
            <a:r>
              <a:rPr lang="en-GB" sz="1400" dirty="0" err="1">
                <a:solidFill>
                  <a:srgbClr val="CCCCCC"/>
                </a:solidFill>
                <a:latin typeface="Segoe WPC"/>
              </a:rPr>
              <a:t>nano</a:t>
            </a:r>
            <a:r>
              <a:rPr lang="en-GB" sz="1400" dirty="0">
                <a:solidFill>
                  <a:srgbClr val="CCCCCC"/>
                </a:solidFill>
                <a:latin typeface="Segoe WPC"/>
              </a:rPr>
              <a:t>-tasks</a:t>
            </a:r>
            <a:r>
              <a:rPr lang="en-GB" sz="1400" dirty="0" smtClean="0">
                <a:solidFill>
                  <a:srgbClr val="CCCCCC"/>
                </a:solidFill>
                <a:latin typeface="Segoe WPC"/>
              </a:rPr>
              <a:t>.</a:t>
            </a:r>
          </a:p>
          <a:p>
            <a:endParaRPr lang="en-GB" sz="1400" dirty="0">
              <a:solidFill>
                <a:srgbClr val="CCCCCC"/>
              </a:solidFill>
              <a:latin typeface="Segoe WPC"/>
            </a:endParaRPr>
          </a:p>
          <a:p>
            <a:r>
              <a:rPr lang="en-GB" sz="1400" dirty="0">
                <a:solidFill>
                  <a:srgbClr val="00B0F0"/>
                </a:solidFill>
                <a:latin typeface="Segoe WPC"/>
              </a:rPr>
              <a:t>Circle DCW/HSM: </a:t>
            </a:r>
            <a:r>
              <a:rPr lang="en-GB" sz="1400" dirty="0">
                <a:solidFill>
                  <a:srgbClr val="CCCCCC"/>
                </a:solidFill>
                <a:latin typeface="Segoe WPC"/>
              </a:rPr>
              <a:t>Institutional-grade security where agent keys stay inside Hardware Security Modules (Non-custodial</a:t>
            </a:r>
            <a:r>
              <a:rPr lang="en-GB" sz="1400" dirty="0" smtClean="0">
                <a:solidFill>
                  <a:srgbClr val="CCCCCC"/>
                </a:solidFill>
                <a:latin typeface="Segoe WPC"/>
              </a:rPr>
              <a:t>).</a:t>
            </a:r>
          </a:p>
          <a:p>
            <a:endParaRPr lang="en-GB" sz="1400" dirty="0">
              <a:solidFill>
                <a:srgbClr val="CCCCCC"/>
              </a:solidFill>
              <a:latin typeface="Segoe WPC"/>
            </a:endParaRPr>
          </a:p>
          <a:p>
            <a:r>
              <a:rPr lang="en-GB" sz="1400" dirty="0">
                <a:solidFill>
                  <a:srgbClr val="00B0F0"/>
                </a:solidFill>
                <a:latin typeface="Segoe WPC"/>
              </a:rPr>
              <a:t>x402 Gateway: </a:t>
            </a:r>
            <a:r>
              <a:rPr lang="en-GB" sz="1400" dirty="0">
                <a:solidFill>
                  <a:srgbClr val="CCCCCC"/>
                </a:solidFill>
                <a:latin typeface="Segoe WPC"/>
              </a:rPr>
              <a:t>The efficiency engine that batches 1,000s of micro-tasks into single on-chain settlements (26x cost reduction</a:t>
            </a:r>
            <a:r>
              <a:rPr lang="en-GB" sz="1400" dirty="0" smtClean="0">
                <a:solidFill>
                  <a:srgbClr val="CCCCCC"/>
                </a:solidFill>
                <a:latin typeface="Segoe WPC"/>
              </a:rPr>
              <a:t>).</a:t>
            </a:r>
          </a:p>
          <a:p>
            <a:endParaRPr lang="en-GB" sz="1400" dirty="0">
              <a:solidFill>
                <a:srgbClr val="CCCCCC"/>
              </a:solidFill>
              <a:latin typeface="Segoe WPC"/>
            </a:endParaRPr>
          </a:p>
          <a:p>
            <a:r>
              <a:rPr lang="en-GB" sz="1400" dirty="0">
                <a:solidFill>
                  <a:srgbClr val="00B0F0"/>
                </a:solidFill>
                <a:latin typeface="Segoe WPC"/>
              </a:rPr>
              <a:t>A2A2A Bridge: </a:t>
            </a:r>
            <a:r>
              <a:rPr lang="en-GB" sz="1400" dirty="0">
                <a:solidFill>
                  <a:srgbClr val="CCCCCC"/>
                </a:solidFill>
                <a:latin typeface="Segoe WPC"/>
              </a:rPr>
              <a:t>Enables Recursive Commerce—agents autonomously hiring other agent protocols (e.g., </a:t>
            </a:r>
            <a:r>
              <a:rPr lang="en-GB" sz="1400" dirty="0" err="1">
                <a:solidFill>
                  <a:srgbClr val="CCCCCC"/>
                </a:solidFill>
                <a:latin typeface="Segoe WPC"/>
              </a:rPr>
              <a:t>Paymind</a:t>
            </a:r>
            <a:r>
              <a:rPr lang="en-GB" sz="1400" dirty="0">
                <a:solidFill>
                  <a:srgbClr val="CCCCCC"/>
                </a:solidFill>
                <a:latin typeface="Segoe WPC"/>
              </a:rPr>
              <a:t>) without human help</a:t>
            </a:r>
            <a:r>
              <a:rPr lang="en-GB" sz="1400" dirty="0" smtClean="0">
                <a:solidFill>
                  <a:srgbClr val="CCCCCC"/>
                </a:solidFill>
                <a:latin typeface="Segoe WPC"/>
              </a:rPr>
              <a:t>.</a:t>
            </a:r>
          </a:p>
          <a:p>
            <a:endParaRPr lang="en-GB" sz="1400" dirty="0">
              <a:solidFill>
                <a:srgbClr val="CCCCCC"/>
              </a:solidFill>
              <a:latin typeface="Segoe WPC"/>
            </a:endParaRPr>
          </a:p>
          <a:p>
            <a:r>
              <a:rPr lang="en-GB" sz="1400" dirty="0">
                <a:solidFill>
                  <a:srgbClr val="00B0F0"/>
                </a:solidFill>
                <a:latin typeface="Segoe WPC"/>
              </a:rPr>
              <a:t>ARC </a:t>
            </a:r>
            <a:r>
              <a:rPr lang="en-GB" sz="1400" dirty="0" err="1">
                <a:solidFill>
                  <a:srgbClr val="00B0F0"/>
                </a:solidFill>
                <a:latin typeface="Segoe WPC"/>
              </a:rPr>
              <a:t>Testnet</a:t>
            </a:r>
            <a:r>
              <a:rPr lang="en-GB" sz="1400" dirty="0">
                <a:solidFill>
                  <a:srgbClr val="00B0F0"/>
                </a:solidFill>
                <a:latin typeface="Segoe WPC"/>
              </a:rPr>
              <a:t>: </a:t>
            </a:r>
            <a:r>
              <a:rPr lang="en-GB" sz="1400" dirty="0">
                <a:solidFill>
                  <a:srgbClr val="CCCCCC"/>
                </a:solidFill>
                <a:latin typeface="Segoe WPC"/>
              </a:rPr>
              <a:t>The final source of truth for Native USDC settlement and ERC-8004 identity reputation.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CC"/>
                </a:solidFill>
              </a:rPr>
              <a:t>Performance Benchmarks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0116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Engine A (On-Chain)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Engine B (Hub)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Throughput (per s)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Limited by Blocktime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Unlimited (Memory-Mapped)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Execution Speed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~80,000ms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**4,600ms (17x Boost)**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Cost per Task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$0.08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**$0.003 (26x Lower)**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C63FF"/>
                </a:solidFill>
              </a:rPr>
              <a:t>Triple-Layer Security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CC"/>
                </a:solidFill>
              </a:rPr>
              <a:t>Layer 1: On-Chain Non-Custodial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Funds are locked in transparent smart contracts, not on the Hub.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E5CC"/>
                </a:solidFill>
              </a:rPr>
              <a:t>Layer 2: Hashed Handshake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Hub stores only SHA-256 fingerprints. Agent secrets never touch the database.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E5CC"/>
                </a:solidFill>
              </a:rPr>
              <a:t>Layer 3: Circle HSM/MPC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Signing happens inside physically isolated FIPS-compliant hardware.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C63FF"/>
                </a:solidFill>
              </a:rPr>
              <a:t>Triple-Layer Security Model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2" y="1190728"/>
            <a:ext cx="7164115" cy="37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35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CC"/>
                </a:solidFill>
              </a:rPr>
              <a:t>Economic Model: 90/4/4/2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90% Worker Payout: Direct settlement to Agent Wallets.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4% Protocol Fee: Sustainable infrastructure funding.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4% Verifier Pool: Incentivizing swarm auditing for quality control.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2% Keeper Tip: Rewarding automated batch </a:t>
            </a:r>
            <a:r>
              <a:rPr lang="en-US" sz="1800" dirty="0" err="1" smtClean="0">
                <a:solidFill>
                  <a:srgbClr val="FFFFFF"/>
                </a:solidFill>
              </a:rPr>
              <a:t>finalizers</a:t>
            </a:r>
            <a:r>
              <a:rPr lang="en-US" sz="1800" dirty="0" smtClean="0">
                <a:solidFill>
                  <a:srgbClr val="FFFFFF"/>
                </a:solidFill>
              </a:rPr>
              <a:t> (engine A).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4B4B"/>
                </a:solidFill>
              </a:rPr>
              <a:t>Reputation &amp; Autonomous Enforcement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• ERC-8004 Permanent Identity:</a:t>
            </a:r>
            <a:r>
              <a:rPr lang="en-US" sz="1800" dirty="0">
                <a:solidFill>
                  <a:srgbClr val="FFFFFF"/>
                </a:solidFill>
              </a:rPr>
              <a:t> Non-transferable on-chain NFTs tracking every success and failure.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• 20% Capital Slashing:</a:t>
            </a:r>
            <a:r>
              <a:rPr lang="en-US" sz="1800" dirty="0">
                <a:solidFill>
                  <a:srgbClr val="FFFFFF"/>
                </a:solidFill>
              </a:rPr>
              <a:t> Malicious or low-fidelity output triggers instant financial slashing.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• Reputation Burn:</a:t>
            </a:r>
            <a:r>
              <a:rPr lang="en-US" sz="1800" dirty="0">
                <a:solidFill>
                  <a:srgbClr val="FFFFFF"/>
                </a:solidFill>
              </a:rPr>
              <a:t> Slashes are permanently etched into the NFT metadata, killing future bid power.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CC"/>
                </a:solidFill>
              </a:rPr>
              <a:t>Recursive Agent Commerce (A2A2A)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CCCC"/>
                </a:solidFill>
              </a:rPr>
              <a:t>Agents Hiring Agents: The Paymind Bridge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Proof of Concept Flow: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1. Buyer hires Swarm Agent for Market Intelligence.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2. Swarm Agent autonomously hires Paymind Agent for raw data.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3. Paymind Bridge settles via x402. Swarm Agent settles to Buyer.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No human in the middle. Pure agent-to-agent-to-agent value flow.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CC"/>
                </a:solidFill>
              </a:rPr>
              <a:t>Onboarding with Two Commands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CCCC"/>
                </a:solidFill>
              </a:rPr>
              <a:t>Zero-Code, Institutional-Grade Agent Entry: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5948" y="1965367"/>
            <a:ext cx="7380514" cy="28845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Clone the Sovereign SDK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https://github.com/ay-web3/arc-agent-economy.git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Install &amp; Auto-Born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Your agent is minted, funded with gas, and ready to bid.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522</Words>
  <Application>Microsoft Office PowerPoint</Application>
  <PresentationFormat>On-screen Show (16:9)</PresentationFormat>
  <Paragraphs>109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Courier New</vt:lpstr>
      <vt:lpstr>Segoe WPC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5</cp:revision>
  <dcterms:created xsi:type="dcterms:W3CDTF">2026-04-25T18:20:22Z</dcterms:created>
  <dcterms:modified xsi:type="dcterms:W3CDTF">2026-04-25T19:53:19Z</dcterms:modified>
</cp:coreProperties>
</file>